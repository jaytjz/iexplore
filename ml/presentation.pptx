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Brain Tumour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CC9F0"/>
                </a:solidFill>
              </a:rPr>
              <a:t>from MRI Scans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D8E8"/>
                </a:solidFill>
              </a:rPr>
              <a:t>An Explainable Deep Learning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201168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Glioma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114800"/>
            <a:ext cx="201168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114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Meningioma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4114800"/>
            <a:ext cx="2011680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114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No Tumour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114800"/>
            <a:ext cx="2011680" cy="50292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114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Pituitary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809A"/>
                </a:solidFill>
              </a:rPr>
              <a:t>Group Project  ·  Milestone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Task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Why does this problem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5720" cy="50292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Brain tumours require accurate, timely classification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Radiologists manually inspect MRI scans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time-consuming &amp; prone to human error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inter-observer variability affects diagnosis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Four clinically distinct categories: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Glioma  (malignant, glial cells)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Meningioma  (usually benign, meninges)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Pituitary  (pituitary gland)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— No tumour  (healthy brain)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852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45720" cy="2286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</a:rPr>
              <a:t>Our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847088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Automated 4-class MRI classifier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Assistive tool — not a replacement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Must explain its decisions to be trusted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977639"/>
            <a:ext cx="585216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3977639"/>
            <a:ext cx="45720" cy="2514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402335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Why Explainability?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4361687"/>
            <a:ext cx="5669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Medical AI must justify predictions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Clinician trust depends on transparency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Regulatory &amp; ethical requirement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We provide: Grad-CAM, calibration,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case-based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Brain Tumor MRI Dataset — Kaggle (Nickparvar)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56032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CC9F0"/>
                </a:solidFill>
              </a:rPr>
              <a:t>7,200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8E8"/>
                </a:solidFill>
              </a:rPr>
              <a:t>Total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5808" y="150876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1508760"/>
            <a:ext cx="256032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600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CC9F0"/>
                </a:solidFill>
              </a:rPr>
              <a:t>5,600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8E8"/>
                </a:solidFill>
              </a:rPr>
              <a:t>Training Samples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7296" y="150876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7296" y="1508760"/>
            <a:ext cx="256032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1600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CC9F0"/>
                </a:solidFill>
              </a:rPr>
              <a:t>1,600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8E8"/>
                </a:solidFill>
              </a:rPr>
              <a:t>Test Samples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58784" y="150876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58784" y="1508760"/>
            <a:ext cx="256032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1600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CC9F0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8E8"/>
                </a:solidFill>
              </a:rPr>
              <a:t>Classes (balanced)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C9F0"/>
                </a:solidFill>
              </a:rPr>
              <a:t>Preprocessing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3291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3291840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4381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C9F0"/>
                </a:solidFill>
              </a:rPr>
              <a:t>Resize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8E8"/>
                </a:solidFill>
              </a:rPr>
              <a:t>512×512  →  224×224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383280"/>
            <a:ext cx="3291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3383280"/>
            <a:ext cx="3291840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4381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C9F0"/>
                </a:solidFill>
              </a:rPr>
              <a:t>Augment
(train only)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8E8"/>
                </a:solidFill>
              </a:rPr>
              <a:t>Horiz. flip  ·  ±15° rotation
Colour jitter (brightness &amp; contrast ±0.2)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383280"/>
            <a:ext cx="3291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3383280"/>
            <a:ext cx="3291840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4381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C9F0"/>
                </a:solidFill>
              </a:rPr>
              <a:t>Normalise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8E8"/>
                </a:solidFill>
              </a:rPr>
              <a:t>ImageNet mean/std
[0.485, 0.456, 0.406]  /  [0.229, 0.224, 0.225]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Classes are balanced: 1,400 training / 400 test images per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440680"/>
            <a:ext cx="11430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440680"/>
            <a:ext cx="45720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Why this dataset?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824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Large enough to fine-tune a deep model (5,600 train)  • Clean pre-defined splits — no leakage risk  • Balanced classes — no re-sampling needed  • Representative of clinical MRI modalities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Model Selection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From scratch CNN  →  ResNet-50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291840"/>
            <a:ext cx="11430000" cy="731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4368" y="3063240"/>
            <a:ext cx="146304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70448" y="3063240"/>
            <a:ext cx="146304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6528" y="3063240"/>
            <a:ext cx="146304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31168" y="3063240"/>
            <a:ext cx="146304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30352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27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Step 1 — Custom PyTorch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Built a CNN from scratch in PyTorch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Conv blocks → BatchNorm → ReLU → MaxPool → FC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Hands-on understanding of: filter learning,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C4DD"/>
                </a:solidFill>
              </a:rPr>
              <a:t>  receptive fields, pooling, backprop through convolutions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53035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53035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84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Problem Encountered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Training was prohibitively slow on this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Small custom CNN struggled to converge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Accuracy far below acceptable threshold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Impractical to iterate and tune in the time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63040"/>
            <a:ext cx="576072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463040"/>
            <a:ext cx="576072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5270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Step 2 — Switch to ResNet-50 (Transfer Learning)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96596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Pretrained ImageNet weights → strong starting point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Converged in &lt; 1 epoch to ~88% test accuracy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Final accuracy: 95.8% after 20 epochs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Dramatically faster iteration and experimentation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520440"/>
            <a:ext cx="5760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3520440"/>
            <a:ext cx="5760720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5844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9F0"/>
                </a:solidFill>
              </a:rPr>
              <a:t>What the CNN Exercise Taught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02336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How convolutional filters learn spatial hierarchies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Role of BatchNorm in stabilising training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Impact of depth, kernel size, and stride on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Appreciation for why pretrained backbones matter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57800"/>
            <a:ext cx="11430000" cy="59436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578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ADE80"/>
                </a:solidFill>
              </a:rPr>
              <a:t>The custom CNN gave us foundational understanding; ResNet-50 gave us production-grade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ResNet-50 with Transfer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43891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96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4996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224×224 RGB MRI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Conv1 + BN + ReLU + MaxPool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84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112×112 feature maps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32304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Layer 1  (×3 blocks)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56×56,  256 channels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53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Layer 2  (×4 blocks)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535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28×28,  512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01568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Layer 3  (×6 blocks)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381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14×14,  1024 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227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Layer 4  (×3 blocks)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227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7×7,  2048 channels  ← Grad-CAM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70832"/>
            <a:ext cx="50292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07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Global Avg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407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2048-dim embedding vector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55464"/>
            <a:ext cx="5029200" cy="438912"/>
          </a:xfrm>
          <a:prstGeom prst="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Linear  2048 →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Replaced head — trained from scratch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40096"/>
            <a:ext cx="5029200" cy="43891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766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Softmax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766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</a:rPr>
              <a:t>Class probabilities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463040"/>
            <a:ext cx="557784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463040"/>
            <a:ext cx="45720" cy="2377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Training 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1847088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Loss:  Cross-Entropy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Optimiser:  Adam  (lr = 1e-3)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LR Schedule:  StepLR  (÷10 every 7 epochs)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Epochs:  20   ·   Batch size:  32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Hardware:  GPU (CUDA)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Parameters:  23.5M  (all trainable)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23360"/>
            <a:ext cx="557784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4023360"/>
            <a:ext cx="45720" cy="2514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4069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</a:rPr>
              <a:t>Why ResNet-50?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40740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Custom CNN attempted first — too slow to converge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0C4DD"/>
                </a:solidFill>
              </a:rPr>
              <a:t>  on this dataset; switched to transfer learning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Residual connections → no vanishing gradients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ImageNet pretraining transfers low-level features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0C4DD"/>
                </a:solidFill>
              </a:rPr>
              <a:t>  (edges, textures) to MRI domain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Full fine-tuning: 5.6k samples sufficient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• layer4 gives best spatial + semantic balance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0C4DD"/>
                </a:solidFill>
              </a:rPr>
              <a:t>  for Grad-CAM visualisation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Explainability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Three complementary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657600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C9F0"/>
                </a:solidFill>
              </a:rPr>
              <a:t>1. Grad-CAM + Occlusion Faithfulness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9968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Computes gradient-weighted activation maps from layer4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Highlights which MRI regions drove the prediction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Faithfulness validation: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Occlude top-activation region → measure confidence drop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Occlude random region → compare drop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Top-region drop &gt; random drop  ✓  confirms map is causal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Result: mean drop (top) &gt; mean drop (random)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4630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46304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2. Uncertainty &amp;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029968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Compute ECE (Expected Calibration Error) on test set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ResNet softmax is typically overconfident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Temperature scaling (post-hoc, single scalar T):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Fit T on test logits via L-BFGS (NLL loss)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Rescale: p = softmax(logits / T)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ECE improves with no accuracy loss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Clinician message: confidence &lt; 0.70 → flag for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4630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463040"/>
            <a:ext cx="3657600" cy="64008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F"/>
                </a:solidFill>
              </a:rPr>
              <a:t>3. Case-based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029968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Extract 2048-dim embeddings (before linear head)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L2-normalise → cosine similarity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Build embedding bank over all 5,600 training images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At inference: retrieve k=3 nearest neighbours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Visual panel: query + top-3 similar training cases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Mimics clinical reasoning: 'looks like these cases'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8D8E8"/>
                </a:solidFill>
              </a:rPr>
              <a:t>• Neighbours share predicted class 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Quantitative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Dataset splits · Metrics · Training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47472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5720" cy="1645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Dataset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Pre-defined train / test split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Training:  5,600 images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Test:  1,600 images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No data leakage — test never seen during training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• Balanced: 1,400 / 400 per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Training Curve (selected epochs)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920240"/>
            <a:ext cx="1417320" cy="38404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920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Epoch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920240"/>
            <a:ext cx="1417320" cy="38404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920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20240"/>
            <a:ext cx="1417320" cy="38404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 Acc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920240"/>
            <a:ext cx="1417320" cy="38404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920240"/>
            <a:ext cx="1417320" cy="38404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920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304288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304288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0.3562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304288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88.1%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304288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0.6890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304288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83.4%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688336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268833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688336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268833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0.1086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688336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68833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96.4%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688336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68833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0.4666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688336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68833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92.9%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072384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3072384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0.0408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072384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98.7%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072384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0.3830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072384"/>
            <a:ext cx="1417320" cy="3840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95.4%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3456432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3456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3456432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0680" y="3456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0.0106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456432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3456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99.7%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3456432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3456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0.4359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3456432"/>
            <a:ext cx="1417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3456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95.6%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23360" y="3840480"/>
            <a:ext cx="1417320" cy="38404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23360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3840480"/>
            <a:ext cx="1417320" cy="38404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40680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0.0063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3840480"/>
            <a:ext cx="1417320" cy="38404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0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99.8%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3840480"/>
            <a:ext cx="1417320" cy="38404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20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0.4409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92640" y="3840480"/>
            <a:ext cx="1417320" cy="38404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</a:rPr>
              <a:t>95.8% 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4572000"/>
            <a:ext cx="7086600" cy="54864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0" y="4572000"/>
            <a:ext cx="7086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ADE80"/>
                </a:solidFill>
              </a:rPr>
              <a:t>Best Test Accuracy:  95.81%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291840"/>
            <a:ext cx="34747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3291840"/>
            <a:ext cx="45720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Calibration (ECE)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3675888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Temperature scaling reduces ECE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without affecting accuracy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Fitted T &gt; 1  →  model was overconfident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Reliability diagram improves alignment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D8E8"/>
                </a:solidFill>
              </a:rPr>
              <a:t>of confidence ↔ accuracy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440680"/>
            <a:ext cx="11430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5440680"/>
            <a:ext cx="45720" cy="10972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Faithfulness check (Grad-CAM Occlusion)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" y="5824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Mean confidence drop — top Grad-CAM region  &gt;  Mean confidence drop — random region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D8E8"/>
                </a:solidFill>
              </a:rPr>
              <a:t>✓  Confirms highlighted regions are causally important, not spurious artefacts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Qualitative Results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Grad-CAM · Calibration · Case-based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5720" cy="5120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Grad-CAM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Overlay on original MRI scan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Glioma example: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Activation concentrates on the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asymmetric hyperintense lesion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Skull and background suppressed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No Tumour example: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• Activations diffuse — no single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salient region identified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(expected for healthy brain)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Jet colourmap overlay (α = 0.45)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Red = high importance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Blue = low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45720" cy="512064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84FF"/>
                </a:solidFill>
              </a:rPr>
              <a:t>Case-based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847088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Query: pred = glioma  (conf = 0.93)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Nearest training neighbours: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NN1: glioma  sim = 0.97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NN2: glioma  sim = 0.96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NN3: glioma  sim = 0.95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All neighbours share the predicted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class — reinforces the decision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Mimics clinical reasoning: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'This scan looks like these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confirmed cases in the archive'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Built on ResNet-50 embedding space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(2048-dim, cosine similarity)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749039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45720" cy="5120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087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Clinician Confidence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47088"/>
            <a:ext cx="356615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After temperature scaling: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High confidence example: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Prediction: glioma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Calibrated confidence: 0.93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→ "Confident prediction"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Low confidence example: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Prediction: meningioma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Calibrated confidence: 0.61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→ "Uncertain — suggest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  specialist review"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Threshold: 0.70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Designed for clinical workflow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Reflection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C9F0"/>
                </a:solidFill>
              </a:rPr>
              <a:t>What worked · Limitations ·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5661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5720" cy="51206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</a:rPr>
              <a:t>What Worked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✓  95.8% test accuracy with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transfer learning on 5.6k images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✓  Grad-CAM faithfulness test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confirms causal heatmaps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✓  Temperature scaling improves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calibration with no accuracy loss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✓  Case-based retrieval provides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intuitive, clinician-friendly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explanations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✓  Clean train/test split — no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data leakage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35661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463040"/>
            <a:ext cx="45720" cy="5120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847088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✗  No per-class confusion matrix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or F1 scores reported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(meningioma likely hardest)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✗  Single fixed split — no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cross-validation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✗  2D slices only — misses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volumetric context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✗  Train/test same distribution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— out-of-distribution MRI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scanners untested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✗  No validation set separate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from test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93192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45720" cy="5120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7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7" y="1847088"/>
            <a:ext cx="3749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Add confusion matrix + per-class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F1 scores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k-fold cross-validation for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robust accuracy estimates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3D volumetric models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(Med3D, nnU-Net)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DINO / ViT self-supervised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pretraining on medical images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Prospective clinical study: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model-assisted vs unassisted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radiologists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D8E8"/>
                </a:solidFill>
              </a:rPr>
              <a:t>→  Web interface for real-time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C4DD"/>
                </a:solidFill>
              </a:rPr>
              <a:t>   clinical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